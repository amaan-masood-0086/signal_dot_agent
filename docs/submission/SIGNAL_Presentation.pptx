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 turns what a caretaker notices into a graded, citation-backed screening record. Team: Sami (lead), Ayesha, Amaan.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product's real value is the second half: a documented concern with a recorded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ADR-02. This is the design decision the whole product is built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 degrades to text and never blocks. The text path has zero speech-to-text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ADR-06. The grade is computed by grade(), a pure function. The model is never asked to pick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ADR-05 for joint retrieval. Prompt injection is tested, not just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LangChain: three direct calls with strict contracts. No vector store: full-context injection at this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Web / API / LLM Top 10 and a STRIDE threat model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498 backend tests (496 passed, 1 skipped, 1 documented xfail) plus 25 frontend tests = 523.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respond to honesty. Every one of these is written in the repository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1, synthetic data only. Not cleared for clinical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2057400"/>
            <a:ext cx="457200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2743200"/>
            <a:ext cx="457200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3429000"/>
            <a:ext cx="457200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1371600"/>
            <a:ext cx="0" cy="274320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32520" y="1371600"/>
            <a:ext cx="0" cy="274320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1371600"/>
            <a:ext cx="0" cy="274320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1371600"/>
            <a:ext cx="0" cy="274320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903720" y="3675888"/>
            <a:ext cx="762000" cy="38404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665720" y="3291840"/>
            <a:ext cx="762000" cy="38404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427720" y="3182112"/>
            <a:ext cx="762000" cy="10972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189720" y="2688336"/>
            <a:ext cx="762000" cy="493776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951720" y="2414016"/>
            <a:ext cx="762000" cy="27432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713720" y="1810512"/>
            <a:ext cx="762000" cy="603504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3428" y="400964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15428" y="362559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7428" y="3241548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39428" y="3131820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01428" y="263804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3428" y="236372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25428" y="1760220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7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97180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100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Developmental screening for children in institutional care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673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documented. Every flag explained.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85800" y="4526280"/>
            <a:ext cx="2011680" cy="0"/>
          </a:xfrm>
          <a:prstGeom prst="line">
            <a:avLst/>
          </a:prstGeom>
          <a:noFill/>
          <a:ln w="31750">
            <a:solidFill>
              <a:srgbClr val="B470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75488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  ·  Ayesha  ·  Amaan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13892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Hackathon Pakistan  ·  A screening aid, not a diagnostic tool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structural failures, not one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Speech, language and hearing delays are most treatable when caught early. In institutional care, two things make that almost impossible.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87168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78408" y="2798064"/>
            <a:ext cx="457200" cy="457200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owns the observation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12724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caretaker notices something, mentions it, and it is gone. No record means nothing happens — and nothing can be shown to have happened.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370832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8408" y="4681728"/>
            <a:ext cx="457200" cy="457200"/>
          </a:xfrm>
          <a:prstGeom prst="ellipse">
            <a:avLst/>
          </a:prstGeom>
          <a:solidFill>
            <a:srgbClr val="B4701A"/>
          </a:solidFill>
          <a:ln w="12700">
            <a:solidFill>
              <a:srgbClr val="B4701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4681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4626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knows how old they are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50109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 chart assumes you know the child's age. For most children in institutional care, nobody does.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37960" y="2487168"/>
            <a:ext cx="4965192" cy="3575304"/>
          </a:xfrm>
          <a:prstGeom prst="roundRect">
            <a:avLst>
              <a:gd name="adj" fmla="val 1279"/>
            </a:avLst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affects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21868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0–6 in orphanages, shelters and welfare homes across Pakistan — and the untrained caretakers responsible for them.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4370832"/>
            <a:ext cx="4160520" cy="0"/>
          </a:xfrm>
          <a:prstGeom prst="line">
            <a:avLst/>
          </a:prstGeom>
          <a:noFill/>
          <a:ln w="15240">
            <a:solidFill>
              <a:srgbClr val="3D66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4590288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50" i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undocumented concern is not protection.</a:t>
            </a:r>
            <a:endParaRPr lang="en-US" sz="165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650" i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documented negligence.”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Screening a child whose age nobody knows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0078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developmental tool on the market takes a date of birth as a given. Ours cannot. So age is modelled as uncertainty rather than guessed at.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50592"/>
            <a:ext cx="525780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69848" y="26883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date of birth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305409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evaluate normally. Grades stand as computed.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2450592"/>
            <a:ext cx="4965192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22008" y="268833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age range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922008" y="305409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the younger bound. Age-dependent grades are downgraded automatically.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224528"/>
            <a:ext cx="10817352" cy="1737360"/>
          </a:xfrm>
          <a:prstGeom prst="roundRect">
            <a:avLst>
              <a:gd name="adj" fmla="val 2632"/>
            </a:avLst>
          </a:prstGeom>
          <a:solidFill>
            <a:srgbClr val="EDF2EE"/>
          </a:solidFill>
          <a:ln w="15240">
            <a:solidFill>
              <a:srgbClr val="8FBF9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4480560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makes it safe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809744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may only ever lower a grade — never raise one. But red flags that do not depend on age at all (a child losing words they already had; a caretaker's own hearing concern) stay exactly where they are, and every result carries an age-uncertain marker the clinician can see.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spoken sentence to a cited record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B4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 doesn't turn around when I clap behind him.”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048256" cy="3200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41832" y="2578608"/>
            <a:ext cx="420624" cy="420624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307238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 agent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767328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Caretaker speaks or types, in Urdu or English. The agent extracts developmental signals — never a diagnosis.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9504" y="2331720"/>
            <a:ext cx="2048256" cy="3200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2578608"/>
            <a:ext cx="420624" cy="420624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45536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45536" y="307238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45536" y="3767328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curated milestone and red-flag rows. Speech/language and hearing retrieved JOINTLY — they present identically.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93208" y="2331720"/>
            <a:ext cx="2048256" cy="3200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9240" y="2578608"/>
            <a:ext cx="420624" cy="420624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07238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Reasoning agent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767328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adaptive follow-up questions, up to five turns, drawing each question from the matched clinical row.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96912" y="2331720"/>
            <a:ext cx="2048256" cy="3200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52944" y="2578608"/>
            <a:ext cx="420624" cy="420624"/>
          </a:xfrm>
          <a:prstGeom prst="ellipse">
            <a:avLst/>
          </a:prstGeom>
          <a:solidFill>
            <a:srgbClr val="B4701A"/>
          </a:solidFill>
          <a:ln w="12700">
            <a:solidFill>
              <a:srgbClr val="B470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52944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52944" y="307238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grade()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552944" y="3767328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decide the grade — not the model. HIGH · MODERATE · LOW-monitor · INSUFFICIENT.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500616" y="2331720"/>
            <a:ext cx="2048256" cy="32004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56648" y="2578608"/>
            <a:ext cx="420624" cy="420624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56648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756648" y="3072384"/>
            <a:ext cx="1536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+ reasoning trail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9756648" y="3767328"/>
            <a:ext cx="15361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that produced the grade, snapshotted at the moment of writing.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57424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a clinician, with a tamper-evident record of who noticed, when, and on what basis.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INNOVATION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does not decide the outcome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0078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difference between a demo and something a clinician can act on. The LLM reads and asks. A pure rules function grades.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432304"/>
            <a:ext cx="525780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724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LLM does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2004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signals from free-text observation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85876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the follow-up question the knowledge base supplies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5171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plain-language explanation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51755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sees a name, an ID, or an institution.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37960" y="2432304"/>
            <a:ext cx="4965192" cy="3246120"/>
          </a:xfrm>
          <a:prstGeom prst="roundRect">
            <a:avLst>
              <a:gd name="adj" fmla="val 1408"/>
            </a:avLst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0" y="27249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code does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2004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the grade from rules, deterministically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8587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every citation against what was actually retrieved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5171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free recall — an invented citation raises an error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51755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same grade. Every time.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DECISIONS THAT MATTER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review, not just a demo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02996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Hearing and language, never separately</a:t>
            </a:r>
            <a:endParaRPr lang="en-US" sz="17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633472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loss and language delay present almost identically. Screening one domain at a time is how children get misattributed. Both are retrieved together, and the domain is decided only after the joint check.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1783080"/>
            <a:ext cx="49651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949440" y="20299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trail is a snapshot, not a lookup</a:t>
            </a:r>
            <a:endParaRPr lang="en-US" sz="1750" dirty="0"/>
          </a:p>
        </p:txBody>
      </p:sp>
      <p:sp>
        <p:nvSpPr>
          <p:cNvPr id="9" name="Text 7"/>
          <p:cNvSpPr txBox="1"/>
          <p:nvPr/>
        </p:nvSpPr>
        <p:spPr>
          <a:xfrm>
            <a:off x="6949440" y="2633472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clinician reading a flag six months later sees the exact wording the decision was made on — and is told if the reference has changed since. Editing a milestone cannot rewrite history.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968496"/>
            <a:ext cx="10817352" cy="1828800"/>
          </a:xfrm>
          <a:prstGeom prst="roundRect">
            <a:avLst>
              <a:gd name="adj" fmla="val 2500"/>
            </a:avLst>
          </a:prstGeom>
          <a:solidFill>
            <a:srgbClr val="12301F"/>
          </a:solidFill>
          <a:ln w="12700">
            <a:solidFill>
              <a:srgbClr val="1230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2245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Caretaker text is data, never instructions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626864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6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observation is fenced as data in the prompt, and the system prompt forbids treating it as an instruction. A caretaker — or anyone typing into that box — cannot steer the screening. The outcome still comes from grounded clinical evidence.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 flipV="1">
            <a:off x="7680960" y="5276088"/>
            <a:ext cx="594360" cy="16002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8275320" y="5116068"/>
            <a:ext cx="594360" cy="16002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8869680" y="5070348"/>
            <a:ext cx="594360" cy="4572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464040" y="4864608"/>
            <a:ext cx="594360" cy="20574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0058400" y="4750308"/>
            <a:ext cx="594360" cy="11430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0652760" y="4498848"/>
            <a:ext cx="594360" cy="25146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30668" y="538581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5028" y="522579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19388" y="506577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3748" y="502005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08108" y="481431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2468" y="470001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6828" y="4448556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a regulated domain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502920"/>
          </a:xfrm>
          <a:prstGeom prst="rect">
            <a:avLst/>
          </a:prstGeom>
          <a:solidFill>
            <a:srgbClr val="EDEAE3"/>
          </a:solidFill>
          <a:ln w="12700">
            <a:solidFill>
              <a:srgbClr val="EDEA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83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 · Alembic · Python 3.12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86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with row-level security for tenant isolation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817352" cy="502920"/>
          </a:xfrm>
          <a:prstGeom prst="rect">
            <a:avLst/>
          </a:prstGeom>
          <a:solidFill>
            <a:srgbClr val="EDEAE3"/>
          </a:solidFill>
          <a:ln w="12700">
            <a:solidFill>
              <a:srgbClr val="EDEA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(App Router) · React 19 · TypeScript · Tailwind 4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91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91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narrow agents, strict JSON contracts — no framework, no embeddings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85800" y="3794760"/>
            <a:ext cx="10817352" cy="502920"/>
          </a:xfrm>
          <a:prstGeom prst="rect">
            <a:avLst/>
          </a:prstGeom>
          <a:solidFill>
            <a:srgbClr val="EDEAE3"/>
          </a:solidFill>
          <a:ln w="12700">
            <a:solidFill>
              <a:srgbClr val="EDE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794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7947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 · deterministic keyless reasoner for demos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seam (Azure / Knowlez) — voice degrades to text, never blocks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85800" y="4800600"/>
            <a:ext cx="10817352" cy="502920"/>
          </a:xfrm>
          <a:prstGeom prst="rect">
            <a:avLst/>
          </a:prstGeom>
          <a:solidFill>
            <a:srgbClr val="EDEAE3"/>
          </a:solidFill>
          <a:ln w="12700">
            <a:solidFill>
              <a:srgbClr val="EDEA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4800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4800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RS256 JWT in an HttpOnly cookie — never localStorage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303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5303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Fernet-encrypted at rest · write-only admin API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pytest, bandit, pip-audit, npm audit and gitleaks on every pull request.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enforces it, not the code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057400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0253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Tenant isolation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33172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row-level security — enforced by the database, not by remembering a WHERE clause.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37960" y="1783080"/>
            <a:ext cx="496519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30568" y="2057400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30568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02536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31720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connects as a role with no superuser, no BYPASSRLS and no DELETE grant.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64408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8408" y="3538728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48386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8130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and append-only. It records reads as well as writes, so “who opened this child's record” is answerable.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3264408"/>
            <a:ext cx="496519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0568" y="3538728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30568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483864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3813048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 403 for both “does not exist” and “belongs to another institution” — existence never leaks.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745736"/>
            <a:ext cx="52578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8408" y="5020056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96519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PHI in prompts or logs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29437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age context and the observation. Never a name, an ID or an institution.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4745736"/>
            <a:ext cx="496519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  <a:effectLst>
            <a:outerShdw sx="100000" sy="100000" kx="0" ky="0" algn="bl" rotWithShape="0" blurRad="101600" dist="12700" dir="5400000">
              <a:srgbClr val="9A9A8F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30568" y="5020056"/>
            <a:ext cx="402336" cy="402336"/>
          </a:xfrm>
          <a:prstGeom prst="ellipse">
            <a:avLst/>
          </a:prstGeom>
          <a:solidFill>
            <a:srgbClr val="8FBF9F"/>
          </a:solidFill>
          <a:ln w="12700">
            <a:solidFill>
              <a:srgbClr val="8FBF9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06640" y="4965192"/>
            <a:ext cx="3776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ever deleted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5294376"/>
            <a:ext cx="3776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archive with a mandatory reason; staff deactivate. Both reversible, both audited.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6053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is verified from the attacker's side: a test queries with no application filter at all, and the database still returns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actually built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190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running system, not a prototype. It stands up from an empty checkout with three commands.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523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55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7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passing, against real PostgreSQL — SQLite is never a fallback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3355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7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clinical rows from ASHA, CDC, NIDCD and JCIH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48716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080760" y="33558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7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delivered — the entire Phase-1 backlog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487168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4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778240" y="3355848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7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 Critical findings from bandit, pip-audit, npm audit and gitleaks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498848"/>
            <a:ext cx="10817352" cy="0"/>
          </a:xfrm>
          <a:prstGeom prst="line">
            <a:avLst/>
          </a:prstGeom>
          <a:noFill/>
          <a:ln w="15240">
            <a:solidFill>
              <a:srgbClr val="2A4A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681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 to end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10912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intake with an estimated age → a voice or typed session → the adaptive reasoning loop → a graded flag with its cited basis → referral → audit chain intact.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 flipV="1">
            <a:off x="7863840" y="5676595"/>
            <a:ext cx="563880" cy="153619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8427720" y="5522976"/>
            <a:ext cx="563880" cy="153619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8991600" y="5479085"/>
            <a:ext cx="563880" cy="43891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555480" y="5281574"/>
            <a:ext cx="563880" cy="197510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0119360" y="5171846"/>
            <a:ext cx="563880" cy="10972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0683240" y="4930445"/>
            <a:ext cx="563880" cy="241402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3548" y="577992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7428" y="5626303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41308" y="547268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5188" y="5428793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9068" y="523128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632948" y="512155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96828" y="4880153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FAKE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test is failing on purpose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0320">
            <a:solidFill>
              <a:srgbClr val="B470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75104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R14 divergence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9572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acceptance case expects MODERATE; our counting rule computes HIGH. The three cited findings — “says what? often”, “sits close to the TV”, “recurrent ear infections” — are not three independent signals. They are one clinical picture: fluid behind the eardrum.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00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F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it is a clinical decision, not an engineering one. So it is documented and blocked rather than quietly patched to make the number look better.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14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— none of them hidden in the code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5171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verification is not implemented. The build is hard-gated to synthetic data and refuses to run otherwise.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1947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model and no retention policy — both need a legal decision before they need code.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3218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institution-scoped, not relationship-based. Clinical practice would narrow it further.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7241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is in-process: correct for one instance, and Redis is the documented path beyond that.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206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blockers are decisions, not code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2212848"/>
            <a:ext cx="219456" cy="219456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54203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999232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sign-off on R14, then flag clustering so correlated findings stop counting as independent ones.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0712" y="19202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6744" y="2212848"/>
            <a:ext cx="219456" cy="219456"/>
          </a:xfrm>
          <a:prstGeom prst="ellipse">
            <a:avLst/>
          </a:prstGeom>
          <a:solidFill>
            <a:srgbClr val="1F4A34"/>
          </a:solidFill>
          <a:ln w="12700">
            <a:solidFill>
              <a:srgbClr val="1F4A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6744" y="254203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4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2999232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verification, a consent model, and a retention and erasure policy.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35624" y="19202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91656" y="2212848"/>
            <a:ext cx="219456" cy="219456"/>
          </a:xfrm>
          <a:prstGeom prst="ellipse">
            <a:avLst/>
          </a:prstGeom>
          <a:solidFill>
            <a:srgbClr val="B4701A"/>
          </a:solidFill>
          <a:ln w="12700">
            <a:solidFill>
              <a:srgbClr val="B470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1656" y="254203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47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2999232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Relationship-based access — scope a caretaker to the children actually assigned to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0536" y="1920240"/>
            <a:ext cx="2606040" cy="301752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EDA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16568" y="2212848"/>
            <a:ext cx="219456" cy="219456"/>
          </a:xfrm>
          <a:prstGeom prst="ellipse">
            <a:avLst/>
          </a:prstGeom>
          <a:solidFill>
            <a:srgbClr val="6E7C74"/>
          </a:solidFill>
          <a:ln w="12700">
            <a:solidFill>
              <a:srgbClr val="6E7C7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16568" y="2542032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E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9116568" y="2999232"/>
            <a:ext cx="20939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rate limiting and a managed key store, so the system runs on more than one instance.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6E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list is blocked on the model. Every one of them is blocked on a decision somebody has to make about children's data — which is the correct place for it to be blocked.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3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1851660"/>
            <a:ext cx="429768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468880"/>
            <a:ext cx="429768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086100"/>
            <a:ext cx="4297680" cy="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83296" y="1234440"/>
            <a:ext cx="0" cy="246888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1234440"/>
            <a:ext cx="0" cy="246888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02368" y="1234440"/>
            <a:ext cx="0" cy="246888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61904" y="1234440"/>
            <a:ext cx="0" cy="2468880"/>
          </a:xfrm>
          <a:prstGeom prst="line">
            <a:avLst/>
          </a:prstGeom>
          <a:noFill/>
          <a:ln w="7620">
            <a:solidFill>
              <a:srgbClr val="2A4A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7223760" y="3308299"/>
            <a:ext cx="716280" cy="345643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940040" y="2962656"/>
            <a:ext cx="716280" cy="345643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656320" y="2863901"/>
            <a:ext cx="716280" cy="98755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9372600" y="2419502"/>
            <a:ext cx="716280" cy="44439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088880" y="2172614"/>
            <a:ext cx="716280" cy="246888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0805160" y="1629461"/>
            <a:ext cx="716280" cy="543154"/>
          </a:xfrm>
          <a:prstGeom prst="line">
            <a:avLst/>
          </a:prstGeom>
          <a:noFill/>
          <a:ln w="28575">
            <a:solidFill>
              <a:srgbClr val="8FBF9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73468" y="3603650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89748" y="3258007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6028" y="2912364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2308" y="2813609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38588" y="2369210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54868" y="2122322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71148" y="1579169"/>
            <a:ext cx="100584" cy="100584"/>
          </a:xfrm>
          <a:prstGeom prst="ellipse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1371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</a:t>
            </a:r>
            <a:endParaRPr lang="en-US" sz="4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2860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observation becomes a record.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has a response.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dirty="0">
                <a:solidFill>
                  <a:srgbClr val="8FBF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can be proven.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685800" y="4206240"/>
            <a:ext cx="10817352" cy="0"/>
          </a:xfrm>
          <a:prstGeom prst="line">
            <a:avLst/>
          </a:prstGeom>
          <a:noFill/>
          <a:ln w="15240">
            <a:solidFill>
              <a:srgbClr val="2A4A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B4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773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Sami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120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886200" y="4773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Ayesha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knowledge base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4773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Amaan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github.com/Amaan-Masood-0086/SIGNAL_dot_agent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</dc:title>
  <dc:subject>PptxGenJS Presentation</dc:subject>
  <dc:creator>Sami, Ayesha, Amaan</dc:creator>
  <cp:lastModifiedBy>Sami, Ayesha, Amaan</cp:lastModifiedBy>
  <cp:revision>1</cp:revision>
  <dcterms:created xsi:type="dcterms:W3CDTF">2026-09-07T19:07:55Z</dcterms:created>
  <dcterms:modified xsi:type="dcterms:W3CDTF">2026-09-07T19:07:55Z</dcterms:modified>
</cp:coreProperties>
</file>